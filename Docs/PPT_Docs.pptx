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15150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554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64972" y="-99442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1"/>
                </a:lnTo>
                <a:lnTo>
                  <a:pt x="0" y="686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380" y="5585646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1" y="0"/>
                </a:lnTo>
                <a:lnTo>
                  <a:pt x="7071311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8190" y="5700398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29943" y="-153329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48192">
            <a:off x="368978" y="-172546"/>
            <a:ext cx="1319443" cy="2483119"/>
          </a:xfrm>
          <a:custGeom>
            <a:avLst/>
            <a:gdLst/>
            <a:ahLst/>
            <a:cxnLst/>
            <a:rect r="r" b="b" t="t" l="l"/>
            <a:pathLst>
              <a:path h="2483119" w="1319443">
                <a:moveTo>
                  <a:pt x="0" y="0"/>
                </a:moveTo>
                <a:lnTo>
                  <a:pt x="1319444" y="0"/>
                </a:lnTo>
                <a:lnTo>
                  <a:pt x="1319444" y="2483119"/>
                </a:lnTo>
                <a:lnTo>
                  <a:pt x="0" y="2483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4623612">
            <a:off x="15546641" y="7018104"/>
            <a:ext cx="2951197" cy="3606751"/>
          </a:xfrm>
          <a:custGeom>
            <a:avLst/>
            <a:gdLst/>
            <a:ahLst/>
            <a:cxnLst/>
            <a:rect r="r" b="b" t="t" l="l"/>
            <a:pathLst>
              <a:path h="3606751" w="2951197">
                <a:moveTo>
                  <a:pt x="2951197" y="3606751"/>
                </a:moveTo>
                <a:lnTo>
                  <a:pt x="0" y="3606751"/>
                </a:lnTo>
                <a:lnTo>
                  <a:pt x="0" y="0"/>
                </a:lnTo>
                <a:lnTo>
                  <a:pt x="2951197" y="0"/>
                </a:lnTo>
                <a:lnTo>
                  <a:pt x="2951197" y="36067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3243" y="654668"/>
            <a:ext cx="15921515" cy="9183530"/>
          </a:xfrm>
          <a:custGeom>
            <a:avLst/>
            <a:gdLst/>
            <a:ahLst/>
            <a:cxnLst/>
            <a:rect r="r" b="b" t="t" l="l"/>
            <a:pathLst>
              <a:path h="9183530" w="15921515">
                <a:moveTo>
                  <a:pt x="0" y="0"/>
                </a:moveTo>
                <a:lnTo>
                  <a:pt x="15921514" y="0"/>
                </a:lnTo>
                <a:lnTo>
                  <a:pt x="15921514" y="9183530"/>
                </a:lnTo>
                <a:lnTo>
                  <a:pt x="0" y="91835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078623" y="8488653"/>
            <a:ext cx="703795" cy="1995295"/>
          </a:xfrm>
          <a:custGeom>
            <a:avLst/>
            <a:gdLst/>
            <a:ahLst/>
            <a:cxnLst/>
            <a:rect r="r" b="b" t="t" l="l"/>
            <a:pathLst>
              <a:path h="1995295" w="703795">
                <a:moveTo>
                  <a:pt x="0" y="0"/>
                </a:moveTo>
                <a:lnTo>
                  <a:pt x="703795" y="0"/>
                </a:lnTo>
                <a:lnTo>
                  <a:pt x="703795" y="1995294"/>
                </a:lnTo>
                <a:lnTo>
                  <a:pt x="0" y="1995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26567" y="-1684526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78822" y="2430274"/>
            <a:ext cx="1146427" cy="1487111"/>
          </a:xfrm>
          <a:custGeom>
            <a:avLst/>
            <a:gdLst/>
            <a:ahLst/>
            <a:cxnLst/>
            <a:rect r="r" b="b" t="t" l="l"/>
            <a:pathLst>
              <a:path h="1487111" w="1146427">
                <a:moveTo>
                  <a:pt x="0" y="0"/>
                </a:moveTo>
                <a:lnTo>
                  <a:pt x="1146427" y="0"/>
                </a:lnTo>
                <a:lnTo>
                  <a:pt x="1146427" y="1487111"/>
                </a:lnTo>
                <a:lnTo>
                  <a:pt x="0" y="14871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38732" y="3924919"/>
            <a:ext cx="10010536" cy="218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7"/>
              </a:lnSpc>
              <a:spcBef>
                <a:spcPct val="0"/>
              </a:spcBef>
            </a:pPr>
            <a:r>
              <a:rPr lang="en-US" sz="127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NexTugas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14928" y="2931251"/>
            <a:ext cx="571842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Praktikum Laravel 13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5330" y="5911319"/>
            <a:ext cx="609733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Nama: Fauzan Firdaus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95330" y="6654269"/>
            <a:ext cx="374749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Kelas: XI-RPL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2697" y="7397218"/>
            <a:ext cx="273144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Absen: 07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30245"/>
            <a:ext cx="16230600" cy="6428055"/>
            <a:chOff x="0" y="0"/>
            <a:chExt cx="4274726" cy="1692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692986"/>
            </a:xfrm>
            <a:custGeom>
              <a:avLst/>
              <a:gdLst/>
              <a:ahLst/>
              <a:cxnLst/>
              <a:rect r="r" b="b" t="t" l="l"/>
              <a:pathLst>
                <a:path h="169298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692986"/>
                  </a:lnTo>
                  <a:lnTo>
                    <a:pt x="0" y="16929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74726" cy="174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90388" y="3643973"/>
            <a:ext cx="15772484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45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emecah tugas proyek besar (Project-Based Learning) siswa SMK menjadi beberapa sub-langkah kerja taktis otomatis menggunakan kecerdasan buatan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621852" y="0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1212" y="904875"/>
            <a:ext cx="17365576" cy="117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6"/>
              </a:lnSpc>
              <a:spcBef>
                <a:spcPct val="0"/>
              </a:spcBef>
            </a:pPr>
            <a:r>
              <a:rPr lang="en-US" sz="692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NexTugas – Intelligent Task Manager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97060" y="8718195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807907" y="-438134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2" y="0"/>
                </a:lnTo>
                <a:lnTo>
                  <a:pt x="764962" y="2168706"/>
                </a:lnTo>
                <a:lnTo>
                  <a:pt x="0" y="216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6239371" y="8665253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764962" y="2168706"/>
                </a:moveTo>
                <a:lnTo>
                  <a:pt x="0" y="2168706"/>
                </a:lnTo>
                <a:lnTo>
                  <a:pt x="0" y="0"/>
                </a:lnTo>
                <a:lnTo>
                  <a:pt x="764962" y="0"/>
                </a:lnTo>
                <a:lnTo>
                  <a:pt x="764962" y="21687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52694" y="2864149"/>
            <a:ext cx="15182611" cy="89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6"/>
              </a:lnSpc>
              <a:spcBef>
                <a:spcPct val="0"/>
              </a:spcBef>
            </a:pPr>
            <a:r>
              <a:rPr lang="en-US" sz="5268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Fungsi Aplikasi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758" y="7117995"/>
            <a:ext cx="1577248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45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engatasi penundaan pekerjaan akibat kebingungan awal pengerjaan instruksi modul praktikum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2694" y="6367191"/>
            <a:ext cx="15182611" cy="89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6"/>
              </a:lnSpc>
              <a:spcBef>
                <a:spcPct val="0"/>
              </a:spcBef>
            </a:pPr>
            <a:r>
              <a:rPr lang="en-US" sz="5268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Pengguna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15150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554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64972" y="-99442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1"/>
                </a:lnTo>
                <a:lnTo>
                  <a:pt x="0" y="686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380" y="5585646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1" y="0"/>
                </a:lnTo>
                <a:lnTo>
                  <a:pt x="7071311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8190" y="5700398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29943" y="-153329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19105" y="615247"/>
            <a:ext cx="7849791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Fitur Utama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true" flipV="true" rot="10415535">
            <a:off x="-1217182" y="6975871"/>
            <a:ext cx="2951197" cy="3606751"/>
          </a:xfrm>
          <a:custGeom>
            <a:avLst/>
            <a:gdLst/>
            <a:ahLst/>
            <a:cxnLst/>
            <a:rect r="r" b="b" t="t" l="l"/>
            <a:pathLst>
              <a:path h="3606751" w="2951197">
                <a:moveTo>
                  <a:pt x="2951197" y="3606752"/>
                </a:moveTo>
                <a:lnTo>
                  <a:pt x="0" y="3606752"/>
                </a:lnTo>
                <a:lnTo>
                  <a:pt x="0" y="0"/>
                </a:lnTo>
                <a:lnTo>
                  <a:pt x="2951197" y="0"/>
                </a:lnTo>
                <a:lnTo>
                  <a:pt x="2951197" y="36067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36282" y="-1684526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55319" y="6768569"/>
            <a:ext cx="8128598" cy="3249668"/>
          </a:xfrm>
          <a:custGeom>
            <a:avLst/>
            <a:gdLst/>
            <a:ahLst/>
            <a:cxnLst/>
            <a:rect r="r" b="b" t="t" l="l"/>
            <a:pathLst>
              <a:path h="3249668" w="8128598">
                <a:moveTo>
                  <a:pt x="0" y="0"/>
                </a:moveTo>
                <a:lnTo>
                  <a:pt x="8128597" y="0"/>
                </a:lnTo>
                <a:lnTo>
                  <a:pt x="8128597" y="3249668"/>
                </a:lnTo>
                <a:lnTo>
                  <a:pt x="0" y="3249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8292" y="5884735"/>
            <a:ext cx="8128598" cy="3249668"/>
          </a:xfrm>
          <a:custGeom>
            <a:avLst/>
            <a:gdLst/>
            <a:ahLst/>
            <a:cxnLst/>
            <a:rect r="r" b="b" t="t" l="l"/>
            <a:pathLst>
              <a:path h="3249668" w="8128598">
                <a:moveTo>
                  <a:pt x="0" y="0"/>
                </a:moveTo>
                <a:lnTo>
                  <a:pt x="8128598" y="0"/>
                </a:lnTo>
                <a:lnTo>
                  <a:pt x="8128598" y="3249668"/>
                </a:lnTo>
                <a:lnTo>
                  <a:pt x="0" y="3249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71983" y="2974587"/>
            <a:ext cx="8128598" cy="3249668"/>
          </a:xfrm>
          <a:custGeom>
            <a:avLst/>
            <a:gdLst/>
            <a:ahLst/>
            <a:cxnLst/>
            <a:rect r="r" b="b" t="t" l="l"/>
            <a:pathLst>
              <a:path h="3249668" w="8128598">
                <a:moveTo>
                  <a:pt x="0" y="0"/>
                </a:moveTo>
                <a:lnTo>
                  <a:pt x="8128598" y="0"/>
                </a:lnTo>
                <a:lnTo>
                  <a:pt x="8128598" y="3249668"/>
                </a:lnTo>
                <a:lnTo>
                  <a:pt x="0" y="3249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5402" y="2246179"/>
            <a:ext cx="8128598" cy="3249668"/>
          </a:xfrm>
          <a:custGeom>
            <a:avLst/>
            <a:gdLst/>
            <a:ahLst/>
            <a:cxnLst/>
            <a:rect r="r" b="b" t="t" l="l"/>
            <a:pathLst>
              <a:path h="3249668" w="8128598">
                <a:moveTo>
                  <a:pt x="0" y="0"/>
                </a:moveTo>
                <a:lnTo>
                  <a:pt x="8128598" y="0"/>
                </a:lnTo>
                <a:lnTo>
                  <a:pt x="8128598" y="3249668"/>
                </a:lnTo>
                <a:lnTo>
                  <a:pt x="0" y="3249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6916" y="2479784"/>
            <a:ext cx="4726745" cy="80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  <a:spcBef>
                <a:spcPct val="0"/>
              </a:spcBef>
            </a:pP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CRUD &amp; T</a:t>
            </a: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racking</a:t>
            </a:r>
          </a:p>
          <a:p>
            <a:pPr algn="l">
              <a:lnSpc>
                <a:spcPts val="198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050395" y="3039951"/>
            <a:ext cx="6293211" cy="186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  <a:spcBef>
                <a:spcPct val="0"/>
              </a:spcBef>
            </a:pP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Manajemen data tugas lengkap dengan status Pending, In-Progress, dan Completed.</a:t>
            </a:r>
          </a:p>
          <a:p>
            <a:pPr algn="l">
              <a:lnSpc>
                <a:spcPts val="198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336272" y="3272538"/>
            <a:ext cx="4726745" cy="80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  <a:spcBef>
                <a:spcPct val="0"/>
              </a:spcBef>
            </a:pP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Assist</a:t>
            </a: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ant</a:t>
            </a:r>
          </a:p>
          <a:p>
            <a:pPr algn="l">
              <a:lnSpc>
                <a:spcPts val="198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434911" y="3794813"/>
            <a:ext cx="6293211" cy="213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</a:pP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Manajemen data tugas lengkap dengan status Pending, In-Progress, dan Completed.</a:t>
            </a:r>
          </a:p>
          <a:p>
            <a:pPr algn="just">
              <a:lnSpc>
                <a:spcPts val="4223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649246" y="6210222"/>
            <a:ext cx="4726745" cy="80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  <a:spcBef>
                <a:spcPct val="0"/>
              </a:spcBef>
            </a:pP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Job Queue</a:t>
            </a:r>
          </a:p>
          <a:p>
            <a:pPr algn="l">
              <a:lnSpc>
                <a:spcPts val="198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922725" y="6779914"/>
            <a:ext cx="6293211" cy="178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3"/>
              </a:lnSpc>
              <a:spcBef>
                <a:spcPct val="0"/>
              </a:spcBef>
            </a:pPr>
            <a:r>
              <a:rPr lang="en-US" sz="29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Pemrosesan AI di latar belakang menggunakan Database Queue untuk menjaga performa UI.</a:t>
            </a:r>
          </a:p>
          <a:p>
            <a:pPr algn="l">
              <a:lnSpc>
                <a:spcPts val="184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692610" y="7043888"/>
            <a:ext cx="4726745" cy="80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  <a:spcBef>
                <a:spcPct val="0"/>
              </a:spcBef>
            </a:pPr>
            <a:r>
              <a:rPr lang="en-US" sz="30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Secure Auth</a:t>
            </a:r>
          </a:p>
          <a:p>
            <a:pPr algn="l">
              <a:lnSpc>
                <a:spcPts val="198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832895" y="7778105"/>
            <a:ext cx="6293211" cy="127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3"/>
              </a:lnSpc>
              <a:spcBef>
                <a:spcPct val="0"/>
              </a:spcBef>
            </a:pPr>
            <a:r>
              <a:rPr lang="en-US" sz="29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Sistem login &amp; register dengan isolasi data antar pengguna yang ketat.</a:t>
            </a:r>
          </a:p>
          <a:p>
            <a:pPr algn="l">
              <a:lnSpc>
                <a:spcPts val="18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7245" y="-273117"/>
            <a:ext cx="19027750" cy="10703110"/>
          </a:xfrm>
          <a:custGeom>
            <a:avLst/>
            <a:gdLst/>
            <a:ahLst/>
            <a:cxnLst/>
            <a:rect r="r" b="b" t="t" l="l"/>
            <a:pathLst>
              <a:path h="10703110" w="19027750">
                <a:moveTo>
                  <a:pt x="0" y="0"/>
                </a:moveTo>
                <a:lnTo>
                  <a:pt x="19027750" y="0"/>
                </a:lnTo>
                <a:lnTo>
                  <a:pt x="19027750" y="10703109"/>
                </a:lnTo>
                <a:lnTo>
                  <a:pt x="0" y="10703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9598" r="0" b="-10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830245"/>
            <a:ext cx="16230600" cy="6601736"/>
            <a:chOff x="0" y="0"/>
            <a:chExt cx="4274726" cy="1738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738729"/>
            </a:xfrm>
            <a:custGeom>
              <a:avLst/>
              <a:gdLst/>
              <a:ahLst/>
              <a:cxnLst/>
              <a:rect r="r" b="b" t="t" l="l"/>
              <a:pathLst>
                <a:path h="1738729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691029"/>
                  </a:lnTo>
                  <a:cubicBezTo>
                    <a:pt x="4274726" y="1703680"/>
                    <a:pt x="4269700" y="1715813"/>
                    <a:pt x="4260755" y="1724758"/>
                  </a:cubicBezTo>
                  <a:cubicBezTo>
                    <a:pt x="4251809" y="1733703"/>
                    <a:pt x="4239677" y="1738729"/>
                    <a:pt x="4227026" y="1738729"/>
                  </a:cubicBezTo>
                  <a:lnTo>
                    <a:pt x="47700" y="1738729"/>
                  </a:lnTo>
                  <a:cubicBezTo>
                    <a:pt x="35049" y="1738729"/>
                    <a:pt x="22916" y="1733703"/>
                    <a:pt x="13971" y="1724758"/>
                  </a:cubicBezTo>
                  <a:cubicBezTo>
                    <a:pt x="5025" y="1715813"/>
                    <a:pt x="0" y="1703680"/>
                    <a:pt x="0" y="1691029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1786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21852" y="0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716125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807907" y="-438134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2" y="0"/>
                </a:lnTo>
                <a:lnTo>
                  <a:pt x="764962" y="2168706"/>
                </a:lnTo>
                <a:lnTo>
                  <a:pt x="0" y="2168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0388" y="3077686"/>
            <a:ext cx="15643382" cy="635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0647" indent="-455323" lvl="1">
              <a:lnSpc>
                <a:spcPts val="5609"/>
              </a:lnSpc>
              <a:buFont typeface="Arial"/>
              <a:buChar char="•"/>
            </a:pPr>
            <a:r>
              <a:rPr lang="en-US" sz="4217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Laravel Boost: Optimalisasi DX dengan pedoman koding berbasis AI Agent.</a:t>
            </a:r>
          </a:p>
          <a:p>
            <a:pPr algn="just" marL="910647" indent="-455323" lvl="1">
              <a:lnSpc>
                <a:spcPts val="5609"/>
              </a:lnSpc>
              <a:buFont typeface="Arial"/>
              <a:buChar char="•"/>
            </a:pPr>
            <a:r>
              <a:rPr lang="en-US" sz="4217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prefersJsonResponses(): Standardisasi respon API global yang siap untuk konsumsi frontend modern.</a:t>
            </a:r>
          </a:p>
          <a:p>
            <a:pPr algn="just" marL="910647" indent="-455323" lvl="1">
              <a:lnSpc>
                <a:spcPts val="5609"/>
              </a:lnSpc>
              <a:buFont typeface="Arial"/>
              <a:buChar char="•"/>
            </a:pPr>
            <a:r>
              <a:rPr lang="en-US" sz="4217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Native PHP Attributes: Konfigurasi middleware #[Middleware] dan model yang lebih clean.</a:t>
            </a:r>
          </a:p>
          <a:p>
            <a:pPr algn="just" marL="910647" indent="-455323" lvl="1">
              <a:lnSpc>
                <a:spcPts val="5609"/>
              </a:lnSpc>
              <a:buFont typeface="Arial"/>
              <a:buChar char="•"/>
            </a:pPr>
            <a:r>
              <a:rPr lang="en-US" sz="4217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Queue Routing: Pendefinisian rute antrean pekerjaan berdasarkan class secara terpusat.</a:t>
            </a:r>
          </a:p>
          <a:p>
            <a:pPr algn="just">
              <a:lnSpc>
                <a:spcPts val="560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4359" y="838200"/>
            <a:ext cx="16104543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Fitur Laravel 13 Terapan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5155018" y="8347628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1" y="0"/>
                </a:lnTo>
                <a:lnTo>
                  <a:pt x="764961" y="2168706"/>
                </a:lnTo>
                <a:lnTo>
                  <a:pt x="0" y="2168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15150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554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64972" y="-99442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1"/>
                </a:lnTo>
                <a:lnTo>
                  <a:pt x="0" y="686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380" y="5585646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1" y="0"/>
                </a:lnTo>
                <a:lnTo>
                  <a:pt x="7071311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8190" y="5700398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36282" y="-1684526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29943" y="-153329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10415535">
            <a:off x="-1217182" y="6975871"/>
            <a:ext cx="2951197" cy="3606751"/>
          </a:xfrm>
          <a:custGeom>
            <a:avLst/>
            <a:gdLst/>
            <a:ahLst/>
            <a:cxnLst/>
            <a:rect r="r" b="b" t="t" l="l"/>
            <a:pathLst>
              <a:path h="3606751" w="2951197">
                <a:moveTo>
                  <a:pt x="2951197" y="3606752"/>
                </a:moveTo>
                <a:lnTo>
                  <a:pt x="0" y="3606752"/>
                </a:lnTo>
                <a:lnTo>
                  <a:pt x="0" y="0"/>
                </a:lnTo>
                <a:lnTo>
                  <a:pt x="2951197" y="0"/>
                </a:lnTo>
                <a:lnTo>
                  <a:pt x="2951197" y="36067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5790705" y="8427861"/>
            <a:ext cx="949787" cy="2692695"/>
          </a:xfrm>
          <a:custGeom>
            <a:avLst/>
            <a:gdLst/>
            <a:ahLst/>
            <a:cxnLst/>
            <a:rect r="r" b="b" t="t" l="l"/>
            <a:pathLst>
              <a:path h="2692695" w="949787">
                <a:moveTo>
                  <a:pt x="0" y="0"/>
                </a:moveTo>
                <a:lnTo>
                  <a:pt x="949787" y="0"/>
                </a:lnTo>
                <a:lnTo>
                  <a:pt x="949787" y="2692695"/>
                </a:lnTo>
                <a:lnTo>
                  <a:pt x="0" y="26926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370821" y="2509071"/>
          <a:ext cx="13041745" cy="6334125"/>
        </p:xfrm>
        <a:graphic>
          <a:graphicData uri="http://schemas.openxmlformats.org/drawingml/2006/table">
            <a:tbl>
              <a:tblPr/>
              <a:tblGrid>
                <a:gridCol w="2675081"/>
                <a:gridCol w="4896399"/>
                <a:gridCol w="5470265"/>
              </a:tblGrid>
              <a:tr h="1025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9"/>
                        </a:lnSpc>
                        <a:defRPr/>
                      </a:pPr>
                      <a:r>
                        <a:rPr lang="en-US" sz="2621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Aspek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7"/>
                        </a:lnSpc>
                        <a:defRPr/>
                      </a:pPr>
                      <a:r>
                        <a:rPr lang="en-US" sz="261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Laravel 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7"/>
                        </a:lnSpc>
                        <a:defRPr/>
                      </a:pPr>
                      <a:r>
                        <a:rPr lang="en-US" sz="261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Laravel 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4B"/>
                    </a:solidFill>
                  </a:tcPr>
                </a:tc>
              </a:tr>
              <a:tr h="1025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PHP Version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7"/>
                        </a:lnSpc>
                        <a:defRPr/>
                      </a:pPr>
                      <a:r>
                        <a:rPr lang="en-US" sz="141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Minimum PHP 8.2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Wajib PHP 8.3+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5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AI SDK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Third-party / Manual HTTP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7"/>
                        </a:lnSpc>
                        <a:defRPr/>
                      </a:pPr>
                      <a:r>
                        <a:rPr lang="en-US" b="true" sz="141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First-party Stable AI SDK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7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 Config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989"/>
                        </a:lnSpc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Class Properties (Verbose)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989"/>
                        </a:lnSpc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Lean PHP Attributes (#[Table])</a:t>
                      </a:r>
                    </a:p>
                    <a:p>
                      <a:pPr algn="ctr">
                        <a:lnSpc>
                          <a:spcPts val="198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5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API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989"/>
                        </a:lnSpc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Response() Manual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prefersJsonResponses()</a:t>
                      </a: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Opt-in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5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989"/>
                        </a:lnSpc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Standard Cache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9"/>
                        </a:lnSpc>
                        <a:defRPr/>
                      </a:pP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Cache::touch()</a:t>
                      </a:r>
                      <a:r>
                        <a:rPr lang="en-US" sz="142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(TTL Extension)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3972669" y="615247"/>
            <a:ext cx="10342662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Laravel 12 vs 13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B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9555" y="5815150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554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64972" y="-99442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1"/>
                </a:lnTo>
                <a:lnTo>
                  <a:pt x="0" y="686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380" y="5585646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1" y="0"/>
                </a:lnTo>
                <a:lnTo>
                  <a:pt x="7071311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8190" y="5700398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36282" y="-1684526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29943" y="-153329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10415535">
            <a:off x="-1217182" y="6975871"/>
            <a:ext cx="2951197" cy="3606751"/>
          </a:xfrm>
          <a:custGeom>
            <a:avLst/>
            <a:gdLst/>
            <a:ahLst/>
            <a:cxnLst/>
            <a:rect r="r" b="b" t="t" l="l"/>
            <a:pathLst>
              <a:path h="3606751" w="2951197">
                <a:moveTo>
                  <a:pt x="2951197" y="3606752"/>
                </a:moveTo>
                <a:lnTo>
                  <a:pt x="0" y="3606752"/>
                </a:lnTo>
                <a:lnTo>
                  <a:pt x="0" y="0"/>
                </a:lnTo>
                <a:lnTo>
                  <a:pt x="2951197" y="0"/>
                </a:lnTo>
                <a:lnTo>
                  <a:pt x="2951197" y="36067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6161927" y="8557580"/>
            <a:ext cx="901902" cy="2556938"/>
          </a:xfrm>
          <a:custGeom>
            <a:avLst/>
            <a:gdLst/>
            <a:ahLst/>
            <a:cxnLst/>
            <a:rect r="r" b="b" t="t" l="l"/>
            <a:pathLst>
              <a:path h="2556938" w="901902">
                <a:moveTo>
                  <a:pt x="0" y="0"/>
                </a:moveTo>
                <a:lnTo>
                  <a:pt x="901902" y="0"/>
                </a:lnTo>
                <a:lnTo>
                  <a:pt x="901902" y="2556938"/>
                </a:lnTo>
                <a:lnTo>
                  <a:pt x="0" y="2556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26059" y="2323397"/>
            <a:ext cx="4796457" cy="3254114"/>
          </a:xfrm>
          <a:custGeom>
            <a:avLst/>
            <a:gdLst/>
            <a:ahLst/>
            <a:cxnLst/>
            <a:rect r="r" b="b" t="t" l="l"/>
            <a:pathLst>
              <a:path h="3254114" w="4796457">
                <a:moveTo>
                  <a:pt x="0" y="0"/>
                </a:moveTo>
                <a:lnTo>
                  <a:pt x="4796457" y="0"/>
                </a:lnTo>
                <a:lnTo>
                  <a:pt x="4796457" y="3254114"/>
                </a:lnTo>
                <a:lnTo>
                  <a:pt x="0" y="32541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9527" t="-15531" r="-52798" b="-1941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17968" y="2323397"/>
            <a:ext cx="7134938" cy="3228560"/>
          </a:xfrm>
          <a:custGeom>
            <a:avLst/>
            <a:gdLst/>
            <a:ahLst/>
            <a:cxnLst/>
            <a:rect r="r" b="b" t="t" l="l"/>
            <a:pathLst>
              <a:path h="3228560" w="7134938">
                <a:moveTo>
                  <a:pt x="0" y="0"/>
                </a:moveTo>
                <a:lnTo>
                  <a:pt x="7134939" y="0"/>
                </a:lnTo>
                <a:lnTo>
                  <a:pt x="7134939" y="3228560"/>
                </a:lnTo>
                <a:lnTo>
                  <a:pt x="0" y="3228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3457" y="5922307"/>
            <a:ext cx="7828873" cy="3552351"/>
          </a:xfrm>
          <a:custGeom>
            <a:avLst/>
            <a:gdLst/>
            <a:ahLst/>
            <a:cxnLst/>
            <a:rect r="r" b="b" t="t" l="l"/>
            <a:pathLst>
              <a:path h="3552351" w="7828873">
                <a:moveTo>
                  <a:pt x="0" y="0"/>
                </a:moveTo>
                <a:lnTo>
                  <a:pt x="7828873" y="0"/>
                </a:lnTo>
                <a:lnTo>
                  <a:pt x="7828873" y="3552351"/>
                </a:lnTo>
                <a:lnTo>
                  <a:pt x="0" y="35523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72249" y="5815150"/>
            <a:ext cx="5880657" cy="4020899"/>
          </a:xfrm>
          <a:custGeom>
            <a:avLst/>
            <a:gdLst/>
            <a:ahLst/>
            <a:cxnLst/>
            <a:rect r="r" b="b" t="t" l="l"/>
            <a:pathLst>
              <a:path h="4020899" w="5880657">
                <a:moveTo>
                  <a:pt x="0" y="0"/>
                </a:moveTo>
                <a:lnTo>
                  <a:pt x="5880658" y="0"/>
                </a:lnTo>
                <a:lnTo>
                  <a:pt x="5880658" y="4020899"/>
                </a:lnTo>
                <a:lnTo>
                  <a:pt x="0" y="40208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7942" y="615247"/>
            <a:ext cx="1729211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Dokumentasi Screenshot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21852" y="0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060" y="8718195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07907" y="-438134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2" y="0"/>
                </a:lnTo>
                <a:lnTo>
                  <a:pt x="764962" y="2168706"/>
                </a:lnTo>
                <a:lnTo>
                  <a:pt x="0" y="216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6239371" y="8665253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764962" y="2168706"/>
                </a:moveTo>
                <a:lnTo>
                  <a:pt x="0" y="2168706"/>
                </a:lnTo>
                <a:lnTo>
                  <a:pt x="0" y="0"/>
                </a:lnTo>
                <a:lnTo>
                  <a:pt x="764962" y="0"/>
                </a:lnTo>
                <a:lnTo>
                  <a:pt x="764962" y="21687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6325" y="3967382"/>
            <a:ext cx="303709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23354B"/>
                </a:solidFill>
                <a:latin typeface="Arimo Bold"/>
                <a:ea typeface="Arimo Bold"/>
                <a:cs typeface="Arimo Bold"/>
                <a:sym typeface="Arimo Bold"/>
              </a:rPr>
              <a:t>Waktu dan Tempat Penelitian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924" y="838200"/>
            <a:ext cx="17764152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Kesimpulan &amp; Insight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39367" y="3967382"/>
            <a:ext cx="303709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23354B"/>
                </a:solidFill>
                <a:latin typeface="Arimo Bold"/>
                <a:ea typeface="Arimo Bold"/>
                <a:cs typeface="Arimo Bold"/>
                <a:sym typeface="Arimo Bold"/>
              </a:rPr>
              <a:t>Subjek Penelitian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5188" y="3948947"/>
            <a:ext cx="303709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23354B"/>
                </a:solidFill>
                <a:latin typeface="Arimo Bold"/>
                <a:ea typeface="Arimo Bold"/>
                <a:cs typeface="Arimo Bold"/>
                <a:sym typeface="Arimo Bold"/>
              </a:rPr>
              <a:t>Desain Penelitian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1106" y="3891797"/>
            <a:ext cx="3037096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23354B"/>
                </a:solidFill>
                <a:latin typeface="Arimo Bold"/>
                <a:ea typeface="Arimo Bold"/>
                <a:cs typeface="Arimo Bold"/>
                <a:sym typeface="Arimo Bold"/>
              </a:rPr>
              <a:t>Data dan Teknik Pengumpu-lan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2309" y="2743532"/>
            <a:ext cx="15643382" cy="635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9"/>
              </a:lnSpc>
            </a:pP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Pembelaj</a:t>
            </a: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aran : </a:t>
            </a: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Menguasai implementasi AI SDK dan sanitasi data real-time dalam arsitektur MVC modern.</a:t>
            </a:r>
          </a:p>
          <a:p>
            <a:pPr algn="just">
              <a:lnSpc>
                <a:spcPts val="5609"/>
              </a:lnSpc>
            </a:pPr>
          </a:p>
          <a:p>
            <a:pPr algn="just">
              <a:lnSpc>
                <a:spcPts val="5609"/>
              </a:lnSpc>
            </a:pP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</a:t>
            </a: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endala : Tantangan pada parsing respon non-standar dari LLM dan sinkronisasi antrean database.</a:t>
            </a:r>
          </a:p>
          <a:p>
            <a:pPr algn="just">
              <a:lnSpc>
                <a:spcPts val="5609"/>
              </a:lnSpc>
            </a:pPr>
          </a:p>
          <a:p>
            <a:pPr algn="just">
              <a:lnSpc>
                <a:spcPts val="5609"/>
              </a:lnSpc>
            </a:pP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 Baru : Masa depan pengemban</a:t>
            </a:r>
            <a:r>
              <a:rPr lang="en-US" sz="421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gan software bergeser dari koding manual ke orkestrasi AI Agent.</a:t>
            </a:r>
          </a:p>
          <a:p>
            <a:pPr algn="just">
              <a:lnSpc>
                <a:spcPts val="560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15150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554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64972" y="-99442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1"/>
                </a:lnTo>
                <a:lnTo>
                  <a:pt x="0" y="686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380" y="5585646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1" y="0"/>
                </a:lnTo>
                <a:lnTo>
                  <a:pt x="7071311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8190" y="5700398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36282" y="-1684526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29943" y="-153329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10415535">
            <a:off x="-1217182" y="6975871"/>
            <a:ext cx="2951197" cy="3606751"/>
          </a:xfrm>
          <a:custGeom>
            <a:avLst/>
            <a:gdLst/>
            <a:ahLst/>
            <a:cxnLst/>
            <a:rect r="r" b="b" t="t" l="l"/>
            <a:pathLst>
              <a:path h="3606751" w="2951197">
                <a:moveTo>
                  <a:pt x="2951197" y="3606752"/>
                </a:moveTo>
                <a:lnTo>
                  <a:pt x="0" y="3606752"/>
                </a:lnTo>
                <a:lnTo>
                  <a:pt x="0" y="0"/>
                </a:lnTo>
                <a:lnTo>
                  <a:pt x="2951197" y="0"/>
                </a:lnTo>
                <a:lnTo>
                  <a:pt x="2951197" y="36067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327" y="4474084"/>
            <a:ext cx="11704503" cy="4784216"/>
          </a:xfrm>
          <a:custGeom>
            <a:avLst/>
            <a:gdLst/>
            <a:ahLst/>
            <a:cxnLst/>
            <a:rect r="r" b="b" t="t" l="l"/>
            <a:pathLst>
              <a:path h="4784216" w="11704503">
                <a:moveTo>
                  <a:pt x="0" y="0"/>
                </a:moveTo>
                <a:lnTo>
                  <a:pt x="11704503" y="0"/>
                </a:lnTo>
                <a:lnTo>
                  <a:pt x="11704503" y="4784216"/>
                </a:lnTo>
                <a:lnTo>
                  <a:pt x="0" y="47842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95165" y="3919404"/>
            <a:ext cx="2570434" cy="6210443"/>
          </a:xfrm>
          <a:custGeom>
            <a:avLst/>
            <a:gdLst/>
            <a:ahLst/>
            <a:cxnLst/>
            <a:rect r="r" b="b" t="t" l="l"/>
            <a:pathLst>
              <a:path h="6210443" w="2570434">
                <a:moveTo>
                  <a:pt x="0" y="0"/>
                </a:moveTo>
                <a:lnTo>
                  <a:pt x="2570433" y="0"/>
                </a:lnTo>
                <a:lnTo>
                  <a:pt x="2570433" y="6210443"/>
                </a:lnTo>
                <a:lnTo>
                  <a:pt x="0" y="62104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91758" y="838200"/>
            <a:ext cx="12327493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Repositori GitHub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1760" y="2701673"/>
            <a:ext cx="15427488" cy="68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  <a:spcBef>
                <a:spcPct val="0"/>
              </a:spcBef>
            </a:pPr>
            <a:r>
              <a:rPr lang="en-US" sz="4026">
                <a:solidFill>
                  <a:srgbClr val="2335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https://github.com/Fauzan-Fz/Laravel_NexTugas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37499" y="408799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7" y="0"/>
                </a:lnTo>
                <a:lnTo>
                  <a:pt x="1487447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293" y="7753458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3"/>
                </a:lnTo>
                <a:lnTo>
                  <a:pt x="0" y="1929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892260" y="845119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2" y="0"/>
                </a:lnTo>
                <a:lnTo>
                  <a:pt x="764962" y="2168707"/>
                </a:lnTo>
                <a:lnTo>
                  <a:pt x="0" y="2168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5155018" y="7251361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764961" y="2168706"/>
                </a:moveTo>
                <a:lnTo>
                  <a:pt x="0" y="2168706"/>
                </a:lnTo>
                <a:lnTo>
                  <a:pt x="0" y="0"/>
                </a:lnTo>
                <a:lnTo>
                  <a:pt x="764961" y="0"/>
                </a:lnTo>
                <a:lnTo>
                  <a:pt x="764961" y="21687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68611" y="3767021"/>
            <a:ext cx="13950777" cy="247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9"/>
              </a:lnSpc>
              <a:spcBef>
                <a:spcPct val="0"/>
              </a:spcBef>
            </a:pPr>
            <a:r>
              <a:rPr lang="en-US" sz="14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DAHKrE9-iks</dc:identifier>
  <dcterms:modified xsi:type="dcterms:W3CDTF">2011-08-01T06:04:30Z</dcterms:modified>
  <cp:revision>1</cp:revision>
  <dc:title>Putih Biru Abstrak Seminar Proposal Presentasi</dc:title>
</cp:coreProperties>
</file>