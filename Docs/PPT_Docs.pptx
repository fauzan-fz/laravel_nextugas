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League Spartan" charset="1" panose="00000800000000000000"/>
      <p:regular r:id="rId16"/>
    </p:embeddedFont>
    <p:embeddedFont>
      <p:font typeface="Arimo Bold" charset="1" panose="020B0704020202020204"/>
      <p:regular r:id="rId17"/>
    </p:embeddedFont>
    <p:embeddedFont>
      <p:font typeface="Arimo" charset="1" panose="020B06040202020202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svg" Type="http://schemas.openxmlformats.org/officeDocument/2006/relationships/image"/><Relationship Id="rId14" Target="../media/image13.png" Type="http://schemas.openxmlformats.org/officeDocument/2006/relationships/image"/><Relationship Id="rId15" Target="../media/image14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17.png" Type="http://schemas.openxmlformats.org/officeDocument/2006/relationships/image"/><Relationship Id="rId9" Target="../media/image1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Relationship Id="rId6" Target="../media/image15.png" Type="http://schemas.openxmlformats.org/officeDocument/2006/relationships/image"/><Relationship Id="rId7" Target="../media/image16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png" Type="http://schemas.openxmlformats.org/officeDocument/2006/relationships/image"/><Relationship Id="rId11" Target="../media/image22.png" Type="http://schemas.openxmlformats.org/officeDocument/2006/relationships/image"/><Relationship Id="rId12" Target="../media/image23.png" Type="http://schemas.openxmlformats.org/officeDocument/2006/relationships/image"/><Relationship Id="rId13" Target="../media/image24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9.png" Type="http://schemas.openxmlformats.org/officeDocument/2006/relationships/image"/><Relationship Id="rId9" Target="../media/image10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25.pn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815150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45554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64972" y="-99442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1"/>
                </a:lnTo>
                <a:lnTo>
                  <a:pt x="0" y="6868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816380" y="5585646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1" y="0"/>
                </a:lnTo>
                <a:lnTo>
                  <a:pt x="7071311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8190" y="5700398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29943" y="-153329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2548192">
            <a:off x="368978" y="-172546"/>
            <a:ext cx="1319443" cy="2483119"/>
          </a:xfrm>
          <a:custGeom>
            <a:avLst/>
            <a:gdLst/>
            <a:ahLst/>
            <a:cxnLst/>
            <a:rect r="r" b="b" t="t" l="l"/>
            <a:pathLst>
              <a:path h="2483119" w="1319443">
                <a:moveTo>
                  <a:pt x="0" y="0"/>
                </a:moveTo>
                <a:lnTo>
                  <a:pt x="1319444" y="0"/>
                </a:lnTo>
                <a:lnTo>
                  <a:pt x="1319444" y="2483119"/>
                </a:lnTo>
                <a:lnTo>
                  <a:pt x="0" y="24831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4623612">
            <a:off x="15546641" y="7018104"/>
            <a:ext cx="2951197" cy="3606751"/>
          </a:xfrm>
          <a:custGeom>
            <a:avLst/>
            <a:gdLst/>
            <a:ahLst/>
            <a:cxnLst/>
            <a:rect r="r" b="b" t="t" l="l"/>
            <a:pathLst>
              <a:path h="3606751" w="2951197">
                <a:moveTo>
                  <a:pt x="2951197" y="3606751"/>
                </a:moveTo>
                <a:lnTo>
                  <a:pt x="0" y="3606751"/>
                </a:lnTo>
                <a:lnTo>
                  <a:pt x="0" y="0"/>
                </a:lnTo>
                <a:lnTo>
                  <a:pt x="2951197" y="0"/>
                </a:lnTo>
                <a:lnTo>
                  <a:pt x="2951197" y="3606751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83243" y="654668"/>
            <a:ext cx="15921515" cy="9183530"/>
          </a:xfrm>
          <a:custGeom>
            <a:avLst/>
            <a:gdLst/>
            <a:ahLst/>
            <a:cxnLst/>
            <a:rect r="r" b="b" t="t" l="l"/>
            <a:pathLst>
              <a:path h="9183530" w="15921515">
                <a:moveTo>
                  <a:pt x="0" y="0"/>
                </a:moveTo>
                <a:lnTo>
                  <a:pt x="15921514" y="0"/>
                </a:lnTo>
                <a:lnTo>
                  <a:pt x="15921514" y="9183530"/>
                </a:lnTo>
                <a:lnTo>
                  <a:pt x="0" y="91835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5400000">
            <a:off x="1078623" y="8488653"/>
            <a:ext cx="703795" cy="1995295"/>
          </a:xfrm>
          <a:custGeom>
            <a:avLst/>
            <a:gdLst/>
            <a:ahLst/>
            <a:cxnLst/>
            <a:rect r="r" b="b" t="t" l="l"/>
            <a:pathLst>
              <a:path h="1995295" w="703795">
                <a:moveTo>
                  <a:pt x="0" y="0"/>
                </a:moveTo>
                <a:lnTo>
                  <a:pt x="703795" y="0"/>
                </a:lnTo>
                <a:lnTo>
                  <a:pt x="703795" y="1995294"/>
                </a:lnTo>
                <a:lnTo>
                  <a:pt x="0" y="199529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526567" y="-1684526"/>
            <a:ext cx="6583680" cy="4114800"/>
          </a:xfrm>
          <a:custGeom>
            <a:avLst/>
            <a:gdLst/>
            <a:ahLst/>
            <a:cxnLst/>
            <a:rect r="r" b="b" t="t" l="l"/>
            <a:pathLst>
              <a:path h="4114800" w="6583680">
                <a:moveTo>
                  <a:pt x="0" y="0"/>
                </a:moveTo>
                <a:lnTo>
                  <a:pt x="6583680" y="0"/>
                </a:lnTo>
                <a:lnTo>
                  <a:pt x="65836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6778822" y="2430274"/>
            <a:ext cx="1146427" cy="1487111"/>
          </a:xfrm>
          <a:custGeom>
            <a:avLst/>
            <a:gdLst/>
            <a:ahLst/>
            <a:cxnLst/>
            <a:rect r="r" b="b" t="t" l="l"/>
            <a:pathLst>
              <a:path h="1487111" w="1146427">
                <a:moveTo>
                  <a:pt x="0" y="0"/>
                </a:moveTo>
                <a:lnTo>
                  <a:pt x="1146427" y="0"/>
                </a:lnTo>
                <a:lnTo>
                  <a:pt x="1146427" y="1487111"/>
                </a:lnTo>
                <a:lnTo>
                  <a:pt x="0" y="148711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4138732" y="3924919"/>
            <a:ext cx="10010536" cy="21895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17"/>
              </a:lnSpc>
              <a:spcBef>
                <a:spcPct val="0"/>
              </a:spcBef>
            </a:pPr>
            <a:r>
              <a:rPr lang="en-US" sz="12798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NexTugas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014928" y="2931251"/>
            <a:ext cx="5718423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Praktikum Laravel 13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095330" y="5911319"/>
            <a:ext cx="6097339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Nama: Fauzan Firdaus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95330" y="6654269"/>
            <a:ext cx="3747492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Kelas: XI-RPL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142697" y="7397218"/>
            <a:ext cx="2731443" cy="800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Absen: 07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830245"/>
            <a:ext cx="16230600" cy="6428055"/>
            <a:chOff x="0" y="0"/>
            <a:chExt cx="4274726" cy="1692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1692986"/>
            </a:xfrm>
            <a:custGeom>
              <a:avLst/>
              <a:gdLst/>
              <a:ahLst/>
              <a:cxnLst/>
              <a:rect r="r" b="b" t="t" l="l"/>
              <a:pathLst>
                <a:path h="1692986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1692986"/>
                  </a:lnTo>
                  <a:lnTo>
                    <a:pt x="0" y="16929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74726" cy="17406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190388" y="3643973"/>
            <a:ext cx="15772484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M</a:t>
            </a:r>
            <a:r>
              <a:rPr lang="en-US" sz="4500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emecah tugas proyek besar (Project-Based Learning) siswa SMK menjadi beberapa sub-langkah kerja taktis otomatis menggunakan kecerdasan buatan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6621852" y="0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461212" y="904875"/>
            <a:ext cx="17365576" cy="11749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96"/>
              </a:lnSpc>
              <a:spcBef>
                <a:spcPct val="0"/>
              </a:spcBef>
            </a:pPr>
            <a:r>
              <a:rPr lang="en-US" sz="6926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NexTugas – Intelligent Task Manager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97060" y="8718195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5400000">
            <a:off x="807907" y="-438134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2" y="0"/>
                </a:lnTo>
                <a:lnTo>
                  <a:pt x="764962" y="2168706"/>
                </a:lnTo>
                <a:lnTo>
                  <a:pt x="0" y="21687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5400000">
            <a:off x="16239371" y="8665253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764962" y="2168706"/>
                </a:moveTo>
                <a:lnTo>
                  <a:pt x="0" y="2168706"/>
                </a:lnTo>
                <a:lnTo>
                  <a:pt x="0" y="0"/>
                </a:lnTo>
                <a:lnTo>
                  <a:pt x="764962" y="0"/>
                </a:lnTo>
                <a:lnTo>
                  <a:pt x="764962" y="21687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552694" y="2864149"/>
            <a:ext cx="15182611" cy="894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76"/>
              </a:lnSpc>
              <a:spcBef>
                <a:spcPct val="0"/>
              </a:spcBef>
            </a:pPr>
            <a:r>
              <a:rPr lang="en-US" sz="5268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Fungsi Aplikasi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57758" y="7117995"/>
            <a:ext cx="15772484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300"/>
              </a:lnSpc>
              <a:spcBef>
                <a:spcPct val="0"/>
              </a:spcBef>
            </a:pPr>
            <a:r>
              <a:rPr lang="en-US" sz="4500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M</a:t>
            </a:r>
            <a:r>
              <a:rPr lang="en-US" sz="4500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engatasi penundaan pekerjaan akibat kebingungan awal pengerjaan instruksi modul praktikum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552694" y="6367191"/>
            <a:ext cx="15182611" cy="894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76"/>
              </a:lnSpc>
              <a:spcBef>
                <a:spcPct val="0"/>
              </a:spcBef>
            </a:pPr>
            <a:r>
              <a:rPr lang="en-US" sz="5268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Target Pengguna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815150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45554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64972" y="-99442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1"/>
                </a:lnTo>
                <a:lnTo>
                  <a:pt x="0" y="6868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816380" y="5585646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1" y="0"/>
                </a:lnTo>
                <a:lnTo>
                  <a:pt x="7071311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8190" y="5700398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729943" y="-153329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5219105" y="615247"/>
            <a:ext cx="7849791" cy="3479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Fitur Utama</a:t>
            </a:r>
          </a:p>
          <a:p>
            <a:pPr algn="ctr">
              <a:lnSpc>
                <a:spcPts val="13999"/>
              </a:lnSpc>
              <a:spcBef>
                <a:spcPct val="0"/>
              </a:spcBef>
            </a:pPr>
          </a:p>
        </p:txBody>
      </p:sp>
      <p:sp>
        <p:nvSpPr>
          <p:cNvPr name="Freeform 9" id="9"/>
          <p:cNvSpPr/>
          <p:nvPr/>
        </p:nvSpPr>
        <p:spPr>
          <a:xfrm flipH="true" flipV="true" rot="10415535">
            <a:off x="-1217182" y="6975871"/>
            <a:ext cx="2951197" cy="3606751"/>
          </a:xfrm>
          <a:custGeom>
            <a:avLst/>
            <a:gdLst/>
            <a:ahLst/>
            <a:cxnLst/>
            <a:rect r="r" b="b" t="t" l="l"/>
            <a:pathLst>
              <a:path h="3606751" w="2951197">
                <a:moveTo>
                  <a:pt x="2951197" y="3606752"/>
                </a:moveTo>
                <a:lnTo>
                  <a:pt x="0" y="3606752"/>
                </a:lnTo>
                <a:lnTo>
                  <a:pt x="0" y="0"/>
                </a:lnTo>
                <a:lnTo>
                  <a:pt x="2951197" y="0"/>
                </a:lnTo>
                <a:lnTo>
                  <a:pt x="2951197" y="360675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3436282" y="-1684526"/>
            <a:ext cx="6583680" cy="4114800"/>
          </a:xfrm>
          <a:custGeom>
            <a:avLst/>
            <a:gdLst/>
            <a:ahLst/>
            <a:cxnLst/>
            <a:rect r="r" b="b" t="t" l="l"/>
            <a:pathLst>
              <a:path h="4114800" w="6583680">
                <a:moveTo>
                  <a:pt x="0" y="0"/>
                </a:moveTo>
                <a:lnTo>
                  <a:pt x="6583680" y="0"/>
                </a:lnTo>
                <a:lnTo>
                  <a:pt x="65836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555319" y="6768569"/>
            <a:ext cx="8128598" cy="3249668"/>
          </a:xfrm>
          <a:custGeom>
            <a:avLst/>
            <a:gdLst/>
            <a:ahLst/>
            <a:cxnLst/>
            <a:rect r="r" b="b" t="t" l="l"/>
            <a:pathLst>
              <a:path h="3249668" w="8128598">
                <a:moveTo>
                  <a:pt x="0" y="0"/>
                </a:moveTo>
                <a:lnTo>
                  <a:pt x="8128597" y="0"/>
                </a:lnTo>
                <a:lnTo>
                  <a:pt x="8128597" y="3249668"/>
                </a:lnTo>
                <a:lnTo>
                  <a:pt x="0" y="32496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68292" y="5884735"/>
            <a:ext cx="8128598" cy="3249668"/>
          </a:xfrm>
          <a:custGeom>
            <a:avLst/>
            <a:gdLst/>
            <a:ahLst/>
            <a:cxnLst/>
            <a:rect r="r" b="b" t="t" l="l"/>
            <a:pathLst>
              <a:path h="3249668" w="8128598">
                <a:moveTo>
                  <a:pt x="0" y="0"/>
                </a:moveTo>
                <a:lnTo>
                  <a:pt x="8128598" y="0"/>
                </a:lnTo>
                <a:lnTo>
                  <a:pt x="8128598" y="3249668"/>
                </a:lnTo>
                <a:lnTo>
                  <a:pt x="0" y="32496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371983" y="2974587"/>
            <a:ext cx="8128598" cy="3249668"/>
          </a:xfrm>
          <a:custGeom>
            <a:avLst/>
            <a:gdLst/>
            <a:ahLst/>
            <a:cxnLst/>
            <a:rect r="r" b="b" t="t" l="l"/>
            <a:pathLst>
              <a:path h="3249668" w="8128598">
                <a:moveTo>
                  <a:pt x="0" y="0"/>
                </a:moveTo>
                <a:lnTo>
                  <a:pt x="8128598" y="0"/>
                </a:lnTo>
                <a:lnTo>
                  <a:pt x="8128598" y="3249668"/>
                </a:lnTo>
                <a:lnTo>
                  <a:pt x="0" y="32496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015402" y="2246179"/>
            <a:ext cx="8128598" cy="3249668"/>
          </a:xfrm>
          <a:custGeom>
            <a:avLst/>
            <a:gdLst/>
            <a:ahLst/>
            <a:cxnLst/>
            <a:rect r="r" b="b" t="t" l="l"/>
            <a:pathLst>
              <a:path h="3249668" w="8128598">
                <a:moveTo>
                  <a:pt x="0" y="0"/>
                </a:moveTo>
                <a:lnTo>
                  <a:pt x="8128598" y="0"/>
                </a:lnTo>
                <a:lnTo>
                  <a:pt x="8128598" y="3249668"/>
                </a:lnTo>
                <a:lnTo>
                  <a:pt x="0" y="324966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776916" y="2479784"/>
            <a:ext cx="4726745" cy="800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  <a:spcBef>
                <a:spcPct val="0"/>
              </a:spcBef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CRUD &amp; T</a:t>
            </a: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racking</a:t>
            </a:r>
          </a:p>
          <a:p>
            <a:pPr algn="l">
              <a:lnSpc>
                <a:spcPts val="1989"/>
              </a:lnSpc>
              <a:spcBef>
                <a:spcPct val="0"/>
              </a:spcBef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2050395" y="3039951"/>
            <a:ext cx="6293211" cy="1867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  <a:spcBef>
                <a:spcPct val="0"/>
              </a:spcBef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Manajemen data tugas lengkap dengan status Pending, In-Progress, dan Completed.</a:t>
            </a:r>
          </a:p>
          <a:p>
            <a:pPr algn="l">
              <a:lnSpc>
                <a:spcPts val="1989"/>
              </a:lnSpc>
              <a:spcBef>
                <a:spcPct val="0"/>
              </a:spcBef>
            </a:pPr>
          </a:p>
        </p:txBody>
      </p:sp>
      <p:sp>
        <p:nvSpPr>
          <p:cNvPr name="TextBox 17" id="17"/>
          <p:cNvSpPr txBox="true"/>
          <p:nvPr/>
        </p:nvSpPr>
        <p:spPr>
          <a:xfrm rot="0">
            <a:off x="10336272" y="3272538"/>
            <a:ext cx="4726745" cy="800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  <a:spcBef>
                <a:spcPct val="0"/>
              </a:spcBef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AI Assist</a:t>
            </a: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</a:t>
            </a:r>
          </a:p>
          <a:p>
            <a:pPr algn="l">
              <a:lnSpc>
                <a:spcPts val="1989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10434911" y="3794813"/>
            <a:ext cx="6293211" cy="2133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Manajemen data tugas lengkap dengan status Pending, In-Progress, dan Completed.</a:t>
            </a:r>
          </a:p>
          <a:p>
            <a:pPr algn="just">
              <a:lnSpc>
                <a:spcPts val="4223"/>
              </a:lnSpc>
              <a:spcBef>
                <a:spcPct val="0"/>
              </a:spcBef>
            </a:pPr>
          </a:p>
        </p:txBody>
      </p:sp>
      <p:sp>
        <p:nvSpPr>
          <p:cNvPr name="TextBox 19" id="19"/>
          <p:cNvSpPr txBox="true"/>
          <p:nvPr/>
        </p:nvSpPr>
        <p:spPr>
          <a:xfrm rot="0">
            <a:off x="1649246" y="6210222"/>
            <a:ext cx="4726745" cy="800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  <a:spcBef>
                <a:spcPct val="0"/>
              </a:spcBef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Job Queue</a:t>
            </a:r>
          </a:p>
          <a:p>
            <a:pPr algn="l">
              <a:lnSpc>
                <a:spcPts val="1989"/>
              </a:lnSpc>
              <a:spcBef>
                <a:spcPct val="0"/>
              </a:spcBef>
            </a:pPr>
          </a:p>
        </p:txBody>
      </p:sp>
      <p:sp>
        <p:nvSpPr>
          <p:cNvPr name="TextBox 20" id="20"/>
          <p:cNvSpPr txBox="true"/>
          <p:nvPr/>
        </p:nvSpPr>
        <p:spPr>
          <a:xfrm rot="0">
            <a:off x="1922725" y="6779914"/>
            <a:ext cx="6293211" cy="17845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3"/>
              </a:lnSpc>
              <a:spcBef>
                <a:spcPct val="0"/>
              </a:spcBef>
            </a:pPr>
            <a:r>
              <a:rPr lang="en-US" sz="29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Pemrosesan AI di latar belakang menggunakan Database Queue untuk menjaga performa UI.</a:t>
            </a:r>
          </a:p>
          <a:p>
            <a:pPr algn="l">
              <a:lnSpc>
                <a:spcPts val="1849"/>
              </a:lnSpc>
              <a:spcBef>
                <a:spcPct val="0"/>
              </a:spcBef>
            </a:pPr>
          </a:p>
        </p:txBody>
      </p:sp>
      <p:sp>
        <p:nvSpPr>
          <p:cNvPr name="TextBox 21" id="21"/>
          <p:cNvSpPr txBox="true"/>
          <p:nvPr/>
        </p:nvSpPr>
        <p:spPr>
          <a:xfrm rot="0">
            <a:off x="10692610" y="7043888"/>
            <a:ext cx="4726745" cy="8008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223"/>
              </a:lnSpc>
              <a:spcBef>
                <a:spcPct val="0"/>
              </a:spcBef>
            </a:pPr>
            <a:r>
              <a:rPr lang="en-US" sz="30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Secure Auth</a:t>
            </a:r>
          </a:p>
          <a:p>
            <a:pPr algn="l">
              <a:lnSpc>
                <a:spcPts val="1989"/>
              </a:lnSpc>
              <a:spcBef>
                <a:spcPct val="0"/>
              </a:spcBef>
            </a:pPr>
          </a:p>
        </p:txBody>
      </p:sp>
      <p:sp>
        <p:nvSpPr>
          <p:cNvPr name="TextBox 22" id="22"/>
          <p:cNvSpPr txBox="true"/>
          <p:nvPr/>
        </p:nvSpPr>
        <p:spPr>
          <a:xfrm rot="0">
            <a:off x="10832895" y="7778105"/>
            <a:ext cx="6293211" cy="12701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083"/>
              </a:lnSpc>
              <a:spcBef>
                <a:spcPct val="0"/>
              </a:spcBef>
            </a:pPr>
            <a:r>
              <a:rPr lang="en-US" sz="2916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Sistem login &amp; register dengan isolasi data antar pengguna yang ketat.</a:t>
            </a:r>
          </a:p>
          <a:p>
            <a:pPr algn="l">
              <a:lnSpc>
                <a:spcPts val="184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37245" y="-273117"/>
            <a:ext cx="19027750" cy="10703110"/>
          </a:xfrm>
          <a:custGeom>
            <a:avLst/>
            <a:gdLst/>
            <a:ahLst/>
            <a:cxnLst/>
            <a:rect r="r" b="b" t="t" l="l"/>
            <a:pathLst>
              <a:path h="10703110" w="19027750">
                <a:moveTo>
                  <a:pt x="0" y="0"/>
                </a:moveTo>
                <a:lnTo>
                  <a:pt x="19027750" y="0"/>
                </a:lnTo>
                <a:lnTo>
                  <a:pt x="19027750" y="10703109"/>
                </a:lnTo>
                <a:lnTo>
                  <a:pt x="0" y="107031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69598" r="0" b="-1068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2830245"/>
            <a:ext cx="16230600" cy="6601736"/>
            <a:chOff x="0" y="0"/>
            <a:chExt cx="4274726" cy="173872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4726" cy="1738729"/>
            </a:xfrm>
            <a:custGeom>
              <a:avLst/>
              <a:gdLst/>
              <a:ahLst/>
              <a:cxnLst/>
              <a:rect r="r" b="b" t="t" l="l"/>
              <a:pathLst>
                <a:path h="1738729" w="4274726">
                  <a:moveTo>
                    <a:pt x="47700" y="0"/>
                  </a:moveTo>
                  <a:lnTo>
                    <a:pt x="4227026" y="0"/>
                  </a:lnTo>
                  <a:cubicBezTo>
                    <a:pt x="4239677" y="0"/>
                    <a:pt x="4251809" y="5025"/>
                    <a:pt x="4260755" y="13971"/>
                  </a:cubicBezTo>
                  <a:cubicBezTo>
                    <a:pt x="4269700" y="22916"/>
                    <a:pt x="4274726" y="35049"/>
                    <a:pt x="4274726" y="47700"/>
                  </a:cubicBezTo>
                  <a:lnTo>
                    <a:pt x="4274726" y="1691029"/>
                  </a:lnTo>
                  <a:cubicBezTo>
                    <a:pt x="4274726" y="1703680"/>
                    <a:pt x="4269700" y="1715813"/>
                    <a:pt x="4260755" y="1724758"/>
                  </a:cubicBezTo>
                  <a:cubicBezTo>
                    <a:pt x="4251809" y="1733703"/>
                    <a:pt x="4239677" y="1738729"/>
                    <a:pt x="4227026" y="1738729"/>
                  </a:cubicBezTo>
                  <a:lnTo>
                    <a:pt x="47700" y="1738729"/>
                  </a:lnTo>
                  <a:cubicBezTo>
                    <a:pt x="35049" y="1738729"/>
                    <a:pt x="22916" y="1733703"/>
                    <a:pt x="13971" y="1724758"/>
                  </a:cubicBezTo>
                  <a:cubicBezTo>
                    <a:pt x="5025" y="1715813"/>
                    <a:pt x="0" y="1703680"/>
                    <a:pt x="0" y="1691029"/>
                  </a:cubicBezTo>
                  <a:lnTo>
                    <a:pt x="0" y="47700"/>
                  </a:lnTo>
                  <a:cubicBezTo>
                    <a:pt x="0" y="35049"/>
                    <a:pt x="5025" y="22916"/>
                    <a:pt x="13971" y="13971"/>
                  </a:cubicBezTo>
                  <a:cubicBezTo>
                    <a:pt x="22916" y="5025"/>
                    <a:pt x="35049" y="0"/>
                    <a:pt x="47700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47625"/>
              <a:ext cx="4274726" cy="1786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6621852" y="0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8716125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5400000">
            <a:off x="807907" y="-438134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2" y="0"/>
                </a:lnTo>
                <a:lnTo>
                  <a:pt x="764962" y="2168706"/>
                </a:lnTo>
                <a:lnTo>
                  <a:pt x="0" y="21687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190388" y="3077686"/>
            <a:ext cx="15643382" cy="6354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0647" indent="-455323" lvl="1">
              <a:lnSpc>
                <a:spcPts val="5609"/>
              </a:lnSpc>
              <a:buFont typeface="Arial"/>
              <a:buChar char="•"/>
            </a:pPr>
            <a:r>
              <a:rPr lang="en-US" sz="4217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Laravel Boost: Optimalisasi DX dengan pedoman koding berbasis AI Agent.</a:t>
            </a:r>
          </a:p>
          <a:p>
            <a:pPr algn="just" marL="910647" indent="-455323" lvl="1">
              <a:lnSpc>
                <a:spcPts val="5609"/>
              </a:lnSpc>
              <a:buFont typeface="Arial"/>
              <a:buChar char="•"/>
            </a:pPr>
            <a:r>
              <a:rPr lang="en-US" sz="4217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prefersJsonResponses(): Standardisasi respon API global yang siap untuk konsumsi frontend modern.</a:t>
            </a:r>
          </a:p>
          <a:p>
            <a:pPr algn="just" marL="910647" indent="-455323" lvl="1">
              <a:lnSpc>
                <a:spcPts val="5609"/>
              </a:lnSpc>
              <a:buFont typeface="Arial"/>
              <a:buChar char="•"/>
            </a:pPr>
            <a:r>
              <a:rPr lang="en-US" sz="4217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Native PHP Attributes: Konfigurasi middleware #[Middleware] dan model yang lebih clean.</a:t>
            </a:r>
          </a:p>
          <a:p>
            <a:pPr algn="just" marL="910647" indent="-455323" lvl="1">
              <a:lnSpc>
                <a:spcPts val="5609"/>
              </a:lnSpc>
              <a:buFont typeface="Arial"/>
              <a:buChar char="•"/>
            </a:pPr>
            <a:r>
              <a:rPr lang="en-US" sz="4217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Queue Routing: Pendefinisian rute antrean pekerjaan berdasarkan class secara terpusat.</a:t>
            </a:r>
          </a:p>
          <a:p>
            <a:pPr algn="just">
              <a:lnSpc>
                <a:spcPts val="5609"/>
              </a:lnSpc>
            </a:pPr>
          </a:p>
        </p:txBody>
      </p:sp>
      <p:sp>
        <p:nvSpPr>
          <p:cNvPr name="TextBox 10" id="10"/>
          <p:cNvSpPr txBox="true"/>
          <p:nvPr/>
        </p:nvSpPr>
        <p:spPr>
          <a:xfrm rot="0">
            <a:off x="1024359" y="838200"/>
            <a:ext cx="16104543" cy="3479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Fitur Laravel 13 Terapan</a:t>
            </a:r>
          </a:p>
          <a:p>
            <a:pPr algn="ctr">
              <a:lnSpc>
                <a:spcPts val="13999"/>
              </a:lnSpc>
              <a:spcBef>
                <a:spcPct val="0"/>
              </a:spcBef>
            </a:pPr>
          </a:p>
        </p:txBody>
      </p:sp>
      <p:sp>
        <p:nvSpPr>
          <p:cNvPr name="Freeform 11" id="11"/>
          <p:cNvSpPr/>
          <p:nvPr/>
        </p:nvSpPr>
        <p:spPr>
          <a:xfrm flipH="false" flipV="false" rot="5400000">
            <a:off x="15155018" y="8347628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1" y="0"/>
                </a:lnTo>
                <a:lnTo>
                  <a:pt x="764961" y="2168706"/>
                </a:lnTo>
                <a:lnTo>
                  <a:pt x="0" y="216870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815150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45554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64972" y="-99442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1"/>
                </a:lnTo>
                <a:lnTo>
                  <a:pt x="0" y="6868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816380" y="5585646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1" y="0"/>
                </a:lnTo>
                <a:lnTo>
                  <a:pt x="7071311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8190" y="5700398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436282" y="-1684526"/>
            <a:ext cx="6583680" cy="4114800"/>
          </a:xfrm>
          <a:custGeom>
            <a:avLst/>
            <a:gdLst/>
            <a:ahLst/>
            <a:cxnLst/>
            <a:rect r="r" b="b" t="t" l="l"/>
            <a:pathLst>
              <a:path h="4114800" w="6583680">
                <a:moveTo>
                  <a:pt x="0" y="0"/>
                </a:moveTo>
                <a:lnTo>
                  <a:pt x="6583680" y="0"/>
                </a:lnTo>
                <a:lnTo>
                  <a:pt x="65836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729943" y="-153329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10415535">
            <a:off x="-1217182" y="6975871"/>
            <a:ext cx="2951197" cy="3606751"/>
          </a:xfrm>
          <a:custGeom>
            <a:avLst/>
            <a:gdLst/>
            <a:ahLst/>
            <a:cxnLst/>
            <a:rect r="r" b="b" t="t" l="l"/>
            <a:pathLst>
              <a:path h="3606751" w="2951197">
                <a:moveTo>
                  <a:pt x="2951197" y="3606752"/>
                </a:moveTo>
                <a:lnTo>
                  <a:pt x="0" y="3606752"/>
                </a:lnTo>
                <a:lnTo>
                  <a:pt x="0" y="0"/>
                </a:lnTo>
                <a:lnTo>
                  <a:pt x="2951197" y="0"/>
                </a:lnTo>
                <a:lnTo>
                  <a:pt x="2951197" y="3606752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5400000">
            <a:off x="15790705" y="8427861"/>
            <a:ext cx="949787" cy="2692695"/>
          </a:xfrm>
          <a:custGeom>
            <a:avLst/>
            <a:gdLst/>
            <a:ahLst/>
            <a:cxnLst/>
            <a:rect r="r" b="b" t="t" l="l"/>
            <a:pathLst>
              <a:path h="2692695" w="949787">
                <a:moveTo>
                  <a:pt x="0" y="0"/>
                </a:moveTo>
                <a:lnTo>
                  <a:pt x="949787" y="0"/>
                </a:lnTo>
                <a:lnTo>
                  <a:pt x="949787" y="2692695"/>
                </a:lnTo>
                <a:lnTo>
                  <a:pt x="0" y="26926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aphicFrame>
        <p:nvGraphicFramePr>
          <p:cNvPr name="Table 11" id="11"/>
          <p:cNvGraphicFramePr>
            <a:graphicFrameLocks noGrp="true"/>
          </p:cNvGraphicFramePr>
          <p:nvPr/>
        </p:nvGraphicFramePr>
        <p:xfrm>
          <a:off x="2370821" y="2509071"/>
          <a:ext cx="13041745" cy="6334125"/>
        </p:xfrm>
        <a:graphic>
          <a:graphicData uri="http://schemas.openxmlformats.org/drawingml/2006/table">
            <a:tbl>
              <a:tblPr/>
              <a:tblGrid>
                <a:gridCol w="2675081"/>
                <a:gridCol w="4896399"/>
                <a:gridCol w="5470265"/>
              </a:tblGrid>
              <a:tr h="10253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69"/>
                        </a:lnSpc>
                        <a:defRPr/>
                      </a:pPr>
                      <a:r>
                        <a:rPr lang="en-US" sz="2621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Aspek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5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67"/>
                        </a:lnSpc>
                        <a:defRPr/>
                      </a:pPr>
                      <a:r>
                        <a:rPr lang="en-US" sz="2619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Laravel 12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54B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667"/>
                        </a:lnSpc>
                        <a:defRPr/>
                      </a:pPr>
                      <a:r>
                        <a:rPr lang="en-US" sz="2619" b="true">
                          <a:solidFill>
                            <a:srgbClr val="FFFFFF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Laravel 13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354B"/>
                    </a:solidFill>
                  </a:tcPr>
                </a:tc>
              </a:tr>
              <a:tr h="10253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PHP Version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7"/>
                        </a:lnSpc>
                        <a:defRPr/>
                      </a:pPr>
                      <a:r>
                        <a:rPr lang="en-US" sz="1419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Minimum PHP 8.2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Wajib PHP 8.3+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53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AI SDK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Third-party / Manual HTTP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7"/>
                        </a:lnSpc>
                        <a:defRPr/>
                      </a:pPr>
                      <a:r>
                        <a:rPr lang="en-US" b="true" sz="1419">
                          <a:solidFill>
                            <a:srgbClr val="000000"/>
                          </a:solidFill>
                          <a:latin typeface="Arimo Bold"/>
                          <a:ea typeface="Arimo Bold"/>
                          <a:cs typeface="Arimo Bold"/>
                          <a:sym typeface="Arimo Bold"/>
                        </a:rPr>
                        <a:t>First-party Stable AI SDK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0741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Model Config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1989"/>
                        </a:lnSpc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Class Properties (Verbose)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1989"/>
                        </a:lnSpc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Lean PHP Attributes (#[Table])</a:t>
                      </a:r>
                    </a:p>
                    <a:p>
                      <a:pPr algn="ctr">
                        <a:lnSpc>
                          <a:spcPts val="1989"/>
                        </a:lnSpc>
                      </a:pP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53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API Support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1989"/>
                        </a:lnSpc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Response() Manual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prefersJsonResponses()</a:t>
                      </a: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Opt-in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2534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Performance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endParaRPr lang="en-US" sz="1100"/>
                    </a:p>
                    <a:p>
                      <a:pPr algn="ctr">
                        <a:lnSpc>
                          <a:spcPts val="1989"/>
                        </a:lnSpc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Standard Cache</a:t>
                      </a:r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1989"/>
                        </a:lnSpc>
                        <a:defRPr/>
                      </a:pP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Cache::touch()</a:t>
                      </a:r>
                      <a:r>
                        <a:rPr lang="en-US" sz="1421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 (TTL Extension)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name="TextBox 12" id="12"/>
          <p:cNvSpPr txBox="true"/>
          <p:nvPr/>
        </p:nvSpPr>
        <p:spPr>
          <a:xfrm rot="0">
            <a:off x="3972669" y="615247"/>
            <a:ext cx="10342662" cy="34798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Laravel 12 vs 13</a:t>
            </a:r>
          </a:p>
          <a:p>
            <a:pPr algn="ctr">
              <a:lnSpc>
                <a:spcPts val="13999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830245"/>
            <a:ext cx="16230600" cy="6428055"/>
            <a:chOff x="0" y="0"/>
            <a:chExt cx="4274726" cy="169298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274726" cy="1692986"/>
            </a:xfrm>
            <a:custGeom>
              <a:avLst/>
              <a:gdLst/>
              <a:ahLst/>
              <a:cxnLst/>
              <a:rect r="r" b="b" t="t" l="l"/>
              <a:pathLst>
                <a:path h="1692986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1692986"/>
                  </a:lnTo>
                  <a:lnTo>
                    <a:pt x="0" y="1692986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4274726" cy="174061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133049" y="2914825"/>
            <a:ext cx="16021903" cy="6093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71"/>
              </a:lnSpc>
            </a:pPr>
            <a:r>
              <a:rPr lang="en-US" sz="3479" b="true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AI yang digunakan</a:t>
            </a:r>
            <a:r>
              <a:rPr lang="en-US" sz="3479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 : Gemini 3 Flash</a:t>
            </a:r>
          </a:p>
          <a:p>
            <a:pPr algn="l">
              <a:lnSpc>
                <a:spcPts val="4871"/>
              </a:lnSpc>
            </a:pPr>
          </a:p>
          <a:p>
            <a:pPr algn="l">
              <a:lnSpc>
                <a:spcPts val="4871"/>
              </a:lnSpc>
            </a:pPr>
            <a:r>
              <a:rPr lang="en-US" sz="3479" b="true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Prompt AI</a:t>
            </a:r>
            <a:r>
              <a:rPr lang="en-US" sz="3479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 : @laravel-expert fix JSON parsing failure in OpenRouterService</a:t>
            </a:r>
          </a:p>
          <a:p>
            <a:pPr algn="l">
              <a:lnSpc>
                <a:spcPts val="4871"/>
              </a:lnSpc>
            </a:pPr>
          </a:p>
          <a:p>
            <a:pPr algn="l">
              <a:lnSpc>
                <a:spcPts val="4871"/>
              </a:lnSpc>
            </a:pPr>
            <a:r>
              <a:rPr lang="en-US" sz="3479" b="true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Hasil AI</a:t>
            </a:r>
            <a:r>
              <a:rPr lang="en-US" sz="3479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 : Implementasi regex sanitizer otomatis untuk membersihkan backtick Markdown.</a:t>
            </a:r>
          </a:p>
          <a:p>
            <a:pPr algn="l">
              <a:lnSpc>
                <a:spcPts val="4871"/>
              </a:lnSpc>
            </a:pPr>
          </a:p>
          <a:p>
            <a:pPr algn="l">
              <a:lnSpc>
                <a:spcPts val="4871"/>
              </a:lnSpc>
            </a:pPr>
            <a:r>
              <a:rPr lang="en-US" sz="3479" b="true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Analisis </a:t>
            </a:r>
            <a:r>
              <a:rPr lang="en-US" sz="3479">
                <a:solidFill>
                  <a:srgbClr val="23354B"/>
                </a:solidFill>
                <a:latin typeface="Arimo"/>
                <a:ea typeface="Arimo"/>
                <a:cs typeface="Arimo"/>
                <a:sym typeface="Arimo"/>
              </a:rPr>
              <a:t>: AI sangat efektif untuk debugging struktural, namun membutuhkan audit logika manusia.</a:t>
            </a:r>
          </a:p>
          <a:p>
            <a:pPr algn="just">
              <a:lnSpc>
                <a:spcPts val="4871"/>
              </a:lnSpc>
              <a:spcBef>
                <a:spcPct val="0"/>
              </a:spcBef>
            </a:pP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16621852" y="0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073089" y="838200"/>
            <a:ext cx="12141823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Penggunaan AI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-297060" y="8718195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5400000">
            <a:off x="807907" y="-438134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2" y="0"/>
                </a:lnTo>
                <a:lnTo>
                  <a:pt x="764962" y="2168706"/>
                </a:lnTo>
                <a:lnTo>
                  <a:pt x="0" y="21687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true" rot="5400000">
            <a:off x="16239371" y="8665253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764962" y="2168706"/>
                </a:moveTo>
                <a:lnTo>
                  <a:pt x="0" y="2168706"/>
                </a:lnTo>
                <a:lnTo>
                  <a:pt x="0" y="0"/>
                </a:lnTo>
                <a:lnTo>
                  <a:pt x="764962" y="0"/>
                </a:lnTo>
                <a:lnTo>
                  <a:pt x="764962" y="21687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98B9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909555" y="5815150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45554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64972" y="-99442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1"/>
                </a:lnTo>
                <a:lnTo>
                  <a:pt x="0" y="6868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816380" y="5585646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1" y="0"/>
                </a:lnTo>
                <a:lnTo>
                  <a:pt x="7071311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8190" y="5700398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436282" y="-1684526"/>
            <a:ext cx="6583680" cy="4114800"/>
          </a:xfrm>
          <a:custGeom>
            <a:avLst/>
            <a:gdLst/>
            <a:ahLst/>
            <a:cxnLst/>
            <a:rect r="r" b="b" t="t" l="l"/>
            <a:pathLst>
              <a:path h="4114800" w="6583680">
                <a:moveTo>
                  <a:pt x="0" y="0"/>
                </a:moveTo>
                <a:lnTo>
                  <a:pt x="6583680" y="0"/>
                </a:lnTo>
                <a:lnTo>
                  <a:pt x="65836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729943" y="-153329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10415535">
            <a:off x="-1217182" y="6975871"/>
            <a:ext cx="2951197" cy="3606751"/>
          </a:xfrm>
          <a:custGeom>
            <a:avLst/>
            <a:gdLst/>
            <a:ahLst/>
            <a:cxnLst/>
            <a:rect r="r" b="b" t="t" l="l"/>
            <a:pathLst>
              <a:path h="3606751" w="2951197">
                <a:moveTo>
                  <a:pt x="2951197" y="3606752"/>
                </a:moveTo>
                <a:lnTo>
                  <a:pt x="0" y="3606752"/>
                </a:lnTo>
                <a:lnTo>
                  <a:pt x="0" y="0"/>
                </a:lnTo>
                <a:lnTo>
                  <a:pt x="2951197" y="0"/>
                </a:lnTo>
                <a:lnTo>
                  <a:pt x="2951197" y="3606752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5400000">
            <a:off x="16161927" y="8557580"/>
            <a:ext cx="901902" cy="2556938"/>
          </a:xfrm>
          <a:custGeom>
            <a:avLst/>
            <a:gdLst/>
            <a:ahLst/>
            <a:cxnLst/>
            <a:rect r="r" b="b" t="t" l="l"/>
            <a:pathLst>
              <a:path h="2556938" w="901902">
                <a:moveTo>
                  <a:pt x="0" y="0"/>
                </a:moveTo>
                <a:lnTo>
                  <a:pt x="901902" y="0"/>
                </a:lnTo>
                <a:lnTo>
                  <a:pt x="901902" y="2556938"/>
                </a:lnTo>
                <a:lnTo>
                  <a:pt x="0" y="25569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926059" y="2323397"/>
            <a:ext cx="4796457" cy="3254114"/>
          </a:xfrm>
          <a:custGeom>
            <a:avLst/>
            <a:gdLst/>
            <a:ahLst/>
            <a:cxnLst/>
            <a:rect r="r" b="b" t="t" l="l"/>
            <a:pathLst>
              <a:path h="3254114" w="4796457">
                <a:moveTo>
                  <a:pt x="0" y="0"/>
                </a:moveTo>
                <a:lnTo>
                  <a:pt x="4796457" y="0"/>
                </a:lnTo>
                <a:lnTo>
                  <a:pt x="4796457" y="3254114"/>
                </a:lnTo>
                <a:lnTo>
                  <a:pt x="0" y="32541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49527" t="-15531" r="-52798" b="-19414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317968" y="2323397"/>
            <a:ext cx="7134938" cy="3228560"/>
          </a:xfrm>
          <a:custGeom>
            <a:avLst/>
            <a:gdLst/>
            <a:ahLst/>
            <a:cxnLst/>
            <a:rect r="r" b="b" t="t" l="l"/>
            <a:pathLst>
              <a:path h="3228560" w="7134938">
                <a:moveTo>
                  <a:pt x="0" y="0"/>
                </a:moveTo>
                <a:lnTo>
                  <a:pt x="7134939" y="0"/>
                </a:lnTo>
                <a:lnTo>
                  <a:pt x="7134939" y="3228560"/>
                </a:lnTo>
                <a:lnTo>
                  <a:pt x="0" y="32285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843457" y="5922307"/>
            <a:ext cx="7828873" cy="3552351"/>
          </a:xfrm>
          <a:custGeom>
            <a:avLst/>
            <a:gdLst/>
            <a:ahLst/>
            <a:cxnLst/>
            <a:rect r="r" b="b" t="t" l="l"/>
            <a:pathLst>
              <a:path h="3552351" w="7828873">
                <a:moveTo>
                  <a:pt x="0" y="0"/>
                </a:moveTo>
                <a:lnTo>
                  <a:pt x="7828873" y="0"/>
                </a:lnTo>
                <a:lnTo>
                  <a:pt x="7828873" y="3552351"/>
                </a:lnTo>
                <a:lnTo>
                  <a:pt x="0" y="355235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572249" y="5815150"/>
            <a:ext cx="5880657" cy="4020899"/>
          </a:xfrm>
          <a:custGeom>
            <a:avLst/>
            <a:gdLst/>
            <a:ahLst/>
            <a:cxnLst/>
            <a:rect r="r" b="b" t="t" l="l"/>
            <a:pathLst>
              <a:path h="4020899" w="5880657">
                <a:moveTo>
                  <a:pt x="0" y="0"/>
                </a:moveTo>
                <a:lnTo>
                  <a:pt x="5880658" y="0"/>
                </a:lnTo>
                <a:lnTo>
                  <a:pt x="5880658" y="4020899"/>
                </a:lnTo>
                <a:lnTo>
                  <a:pt x="0" y="402089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497942" y="615247"/>
            <a:ext cx="17292117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Dokumentasi Screenshot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6621852" y="0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97060" y="8718195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807907" y="-438134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2" y="0"/>
                </a:lnTo>
                <a:lnTo>
                  <a:pt x="764962" y="2168706"/>
                </a:lnTo>
                <a:lnTo>
                  <a:pt x="0" y="21687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5400000">
            <a:off x="16239371" y="8665253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764962" y="2168706"/>
                </a:moveTo>
                <a:lnTo>
                  <a:pt x="0" y="2168706"/>
                </a:lnTo>
                <a:lnTo>
                  <a:pt x="0" y="0"/>
                </a:lnTo>
                <a:lnTo>
                  <a:pt x="764962" y="0"/>
                </a:lnTo>
                <a:lnTo>
                  <a:pt x="764962" y="21687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076325" y="3967382"/>
            <a:ext cx="3037096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Waktu dan Tempat Penelitian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61924" y="838200"/>
            <a:ext cx="17764152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Kesimpulan &amp; Insight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39367" y="3967382"/>
            <a:ext cx="3037096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Subjek Penelitian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05188" y="3948947"/>
            <a:ext cx="3037096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Desain Penelitian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4171106" y="3891797"/>
            <a:ext cx="3037096" cy="3200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300"/>
              </a:lnSpc>
              <a:spcBef>
                <a:spcPct val="0"/>
              </a:spcBef>
            </a:pPr>
            <a:r>
              <a:rPr lang="en-US" b="true" sz="4500">
                <a:solidFill>
                  <a:srgbClr val="23354B"/>
                </a:solidFill>
                <a:latin typeface="Arimo Bold"/>
                <a:ea typeface="Arimo Bold"/>
                <a:cs typeface="Arimo Bold"/>
                <a:sym typeface="Arimo Bold"/>
              </a:rPr>
              <a:t>Data dan Teknik Pengumpu-lan Data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22309" y="2743532"/>
            <a:ext cx="15643382" cy="63502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5609"/>
              </a:lnSpc>
            </a:pP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Pembelaj</a:t>
            </a: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aran : </a:t>
            </a: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Menguasai implementasi AI SDK dan sanitasi data real-time dalam arsitektur MVC modern.</a:t>
            </a:r>
          </a:p>
          <a:p>
            <a:pPr algn="just">
              <a:lnSpc>
                <a:spcPts val="5609"/>
              </a:lnSpc>
            </a:pPr>
          </a:p>
          <a:p>
            <a:pPr algn="just">
              <a:lnSpc>
                <a:spcPts val="5609"/>
              </a:lnSpc>
            </a:pP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K</a:t>
            </a: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endala : Tantangan pada parsing respon non-standar dari LLM dan sinkronisasi antrean database.</a:t>
            </a:r>
          </a:p>
          <a:p>
            <a:pPr algn="just">
              <a:lnSpc>
                <a:spcPts val="5609"/>
              </a:lnSpc>
            </a:pPr>
          </a:p>
          <a:p>
            <a:pPr algn="just">
              <a:lnSpc>
                <a:spcPts val="5609"/>
              </a:lnSpc>
            </a:pP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Insight Baru : Masa depan pengemban</a:t>
            </a:r>
            <a:r>
              <a:rPr lang="en-US" sz="4217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gan software bergeser dari koding manual ke orkestrasi AI Agent.</a:t>
            </a:r>
          </a:p>
          <a:p>
            <a:pPr algn="just">
              <a:lnSpc>
                <a:spcPts val="5609"/>
              </a:lnSpc>
            </a:pP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815150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-45554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364972" y="-99442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1"/>
                </a:lnTo>
                <a:lnTo>
                  <a:pt x="0" y="68680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816380" y="5585646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1" y="0"/>
                </a:lnTo>
                <a:lnTo>
                  <a:pt x="7071311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6908190" y="5700398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3436282" y="-1684526"/>
            <a:ext cx="6583680" cy="4114800"/>
          </a:xfrm>
          <a:custGeom>
            <a:avLst/>
            <a:gdLst/>
            <a:ahLst/>
            <a:cxnLst/>
            <a:rect r="r" b="b" t="t" l="l"/>
            <a:pathLst>
              <a:path h="4114800" w="6583680">
                <a:moveTo>
                  <a:pt x="0" y="0"/>
                </a:moveTo>
                <a:lnTo>
                  <a:pt x="6583680" y="0"/>
                </a:lnTo>
                <a:lnTo>
                  <a:pt x="658368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729943" y="-153329"/>
            <a:ext cx="7071310" cy="6868010"/>
          </a:xfrm>
          <a:custGeom>
            <a:avLst/>
            <a:gdLst/>
            <a:ahLst/>
            <a:cxnLst/>
            <a:rect r="r" b="b" t="t" l="l"/>
            <a:pathLst>
              <a:path h="6868010" w="7071310">
                <a:moveTo>
                  <a:pt x="0" y="0"/>
                </a:moveTo>
                <a:lnTo>
                  <a:pt x="7071310" y="0"/>
                </a:lnTo>
                <a:lnTo>
                  <a:pt x="7071310" y="6868010"/>
                </a:lnTo>
                <a:lnTo>
                  <a:pt x="0" y="68680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true" rot="10415535">
            <a:off x="-1217182" y="6975871"/>
            <a:ext cx="2951197" cy="3606751"/>
          </a:xfrm>
          <a:custGeom>
            <a:avLst/>
            <a:gdLst/>
            <a:ahLst/>
            <a:cxnLst/>
            <a:rect r="r" b="b" t="t" l="l"/>
            <a:pathLst>
              <a:path h="3606751" w="2951197">
                <a:moveTo>
                  <a:pt x="2951197" y="3606752"/>
                </a:moveTo>
                <a:lnTo>
                  <a:pt x="0" y="3606752"/>
                </a:lnTo>
                <a:lnTo>
                  <a:pt x="0" y="0"/>
                </a:lnTo>
                <a:lnTo>
                  <a:pt x="2951197" y="0"/>
                </a:lnTo>
                <a:lnTo>
                  <a:pt x="2951197" y="3606752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52327" y="4474084"/>
            <a:ext cx="11704503" cy="4784216"/>
          </a:xfrm>
          <a:custGeom>
            <a:avLst/>
            <a:gdLst/>
            <a:ahLst/>
            <a:cxnLst/>
            <a:rect r="r" b="b" t="t" l="l"/>
            <a:pathLst>
              <a:path h="4784216" w="11704503">
                <a:moveTo>
                  <a:pt x="0" y="0"/>
                </a:moveTo>
                <a:lnTo>
                  <a:pt x="11704503" y="0"/>
                </a:lnTo>
                <a:lnTo>
                  <a:pt x="11704503" y="4784216"/>
                </a:lnTo>
                <a:lnTo>
                  <a:pt x="0" y="47842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3695165" y="3919404"/>
            <a:ext cx="2570434" cy="6210443"/>
          </a:xfrm>
          <a:custGeom>
            <a:avLst/>
            <a:gdLst/>
            <a:ahLst/>
            <a:cxnLst/>
            <a:rect r="r" b="b" t="t" l="l"/>
            <a:pathLst>
              <a:path h="6210443" w="2570434">
                <a:moveTo>
                  <a:pt x="0" y="0"/>
                </a:moveTo>
                <a:lnTo>
                  <a:pt x="2570433" y="0"/>
                </a:lnTo>
                <a:lnTo>
                  <a:pt x="2570433" y="6210443"/>
                </a:lnTo>
                <a:lnTo>
                  <a:pt x="0" y="62104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591758" y="838200"/>
            <a:ext cx="12327493" cy="1708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  <a:spcBef>
                <a:spcPct val="0"/>
              </a:spcBef>
            </a:pPr>
            <a:r>
              <a:rPr lang="en-US" sz="9999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Repositori GitHub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1760" y="2701673"/>
            <a:ext cx="15427488" cy="686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37"/>
              </a:lnSpc>
              <a:spcBef>
                <a:spcPct val="0"/>
              </a:spcBef>
            </a:pPr>
            <a:r>
              <a:rPr lang="en-US" sz="4026">
                <a:solidFill>
                  <a:srgbClr val="23354B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https://github.com/Fauzan-Fz/Laravel_NexTugas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2335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537499" y="408799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7" y="0"/>
                </a:lnTo>
                <a:lnTo>
                  <a:pt x="1487447" y="1929472"/>
                </a:lnTo>
                <a:lnTo>
                  <a:pt x="0" y="192947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787293" y="7753458"/>
            <a:ext cx="1487448" cy="1929472"/>
          </a:xfrm>
          <a:custGeom>
            <a:avLst/>
            <a:gdLst/>
            <a:ahLst/>
            <a:cxnLst/>
            <a:rect r="r" b="b" t="t" l="l"/>
            <a:pathLst>
              <a:path h="1929472" w="1487448">
                <a:moveTo>
                  <a:pt x="0" y="0"/>
                </a:moveTo>
                <a:lnTo>
                  <a:pt x="1487448" y="0"/>
                </a:lnTo>
                <a:lnTo>
                  <a:pt x="1487448" y="1929473"/>
                </a:lnTo>
                <a:lnTo>
                  <a:pt x="0" y="1929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892260" y="845119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0" y="0"/>
                </a:moveTo>
                <a:lnTo>
                  <a:pt x="764962" y="0"/>
                </a:lnTo>
                <a:lnTo>
                  <a:pt x="764962" y="2168707"/>
                </a:lnTo>
                <a:lnTo>
                  <a:pt x="0" y="21687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true" flipV="true" rot="5400000">
            <a:off x="15155018" y="7251361"/>
            <a:ext cx="764962" cy="2168706"/>
          </a:xfrm>
          <a:custGeom>
            <a:avLst/>
            <a:gdLst/>
            <a:ahLst/>
            <a:cxnLst/>
            <a:rect r="r" b="b" t="t" l="l"/>
            <a:pathLst>
              <a:path h="2168706" w="764962">
                <a:moveTo>
                  <a:pt x="764961" y="2168706"/>
                </a:moveTo>
                <a:lnTo>
                  <a:pt x="0" y="2168706"/>
                </a:lnTo>
                <a:lnTo>
                  <a:pt x="0" y="0"/>
                </a:lnTo>
                <a:lnTo>
                  <a:pt x="764961" y="0"/>
                </a:lnTo>
                <a:lnTo>
                  <a:pt x="764961" y="2168706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168611" y="3767021"/>
            <a:ext cx="13950777" cy="2476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299"/>
              </a:lnSpc>
              <a:spcBef>
                <a:spcPct val="0"/>
              </a:spcBef>
            </a:pPr>
            <a:r>
              <a:rPr lang="en-US" sz="1449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DAHKrE9-iks</dc:identifier>
  <dcterms:modified xsi:type="dcterms:W3CDTF">2011-08-01T06:04:30Z</dcterms:modified>
  <cp:revision>1</cp:revision>
  <dc:title>Putih Biru Abstrak Seminar Proposal Presentasi</dc:title>
</cp:coreProperties>
</file>